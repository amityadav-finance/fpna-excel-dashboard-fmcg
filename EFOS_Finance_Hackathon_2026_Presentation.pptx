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14"/>
  </p:normalViewPr>
  <p:slideViewPr>
    <p:cSldViewPr snapToGrid="0" snapToObjects="1">
      <p:cViewPr varScale="1">
        <p:scale>
          <a:sx n="112" d="100"/>
          <a:sy n="112" d="100"/>
        </p:scale>
        <p:origin x="6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FAB433-0C24-D84D-AA76-AFFBB3BCAD3A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B2D53-96A4-6045-BDA6-769F4FEE6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4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B2D53-96A4-6045-BDA6-769F4FEE6A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1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8345D"/>
                </a:solidFill>
              </a:defRPr>
            </a:pPr>
            <a:r>
              <a:t>FMCG Budget vs Actual Analysis</a:t>
            </a:r>
          </a:p>
          <a:p>
            <a:pPr>
              <a:defRPr sz="2300">
                <a:solidFill>
                  <a:srgbClr val="2563EB"/>
                </a:solidFill>
              </a:defRPr>
            </a:pPr>
            <a:r>
              <a:t>Financial Planning &amp; Analysis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154680"/>
            <a:ext cx="4937760" cy="566928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282696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45D"/>
                </a:solidFill>
              </a:defRPr>
            </a:pPr>
            <a:r>
              <a:t>EFOS Global Finance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5943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42B"/>
                </a:solidFill>
              </a:defRPr>
            </a:pPr>
            <a:r>
              <a:t>Track 01 • Financial Planning &amp; Analysis</a:t>
            </a:r>
          </a:p>
          <a:p>
            <a:pPr>
              <a:spcAft>
                <a:spcPts val="600"/>
              </a:spcAft>
              <a:defRPr sz="1700">
                <a:solidFill>
                  <a:srgbClr val="1E242B"/>
                </a:solidFill>
              </a:defRPr>
            </a:pPr>
            <a:r>
              <a:t>Case 6 • Budget vs Actual Analysis</a:t>
            </a:r>
          </a:p>
          <a:p>
            <a:pPr>
              <a:spcAft>
                <a:spcPts val="600"/>
              </a:spcAft>
              <a:defRPr sz="1700">
                <a:solidFill>
                  <a:srgbClr val="1E242B"/>
                </a:solidFill>
              </a:defRPr>
            </a:pPr>
            <a:r>
              <a:t>FY 2025–26 • FMCG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1605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Prepared by</a:t>
            </a:r>
          </a:p>
          <a:p>
            <a:pPr>
              <a:defRPr sz="2200" b="1">
                <a:solidFill>
                  <a:srgbClr val="18345D"/>
                </a:solidFill>
              </a:defRPr>
            </a:pPr>
            <a:r>
              <a:t>Amit Yadav</a:t>
            </a:r>
          </a:p>
          <a:p>
            <a:pPr>
              <a:defRPr sz="1200">
                <a:solidFill>
                  <a:srgbClr val="5C6673"/>
                </a:solidFill>
              </a:defRPr>
            </a:pPr>
            <a:r>
              <a:t>MBA (Finance &amp; Marketing)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Track 01 • Case 6 • Budget vs Actual Analysis                                    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Business 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Case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42B"/>
                </a:solidFill>
              </a:defRPr>
            </a:pPr>
            <a:r>
              <a:t>• Management needs a clear view of budgeted versus actual financial performance.</a:t>
            </a:r>
          </a:p>
          <a:p>
            <a:pPr>
              <a:spcAft>
                <a:spcPts val="800"/>
              </a:spcAft>
              <a:defRPr sz="1800">
                <a:solidFill>
                  <a:srgbClr val="1E242B"/>
                </a:solidFill>
              </a:defRPr>
            </a:pPr>
            <a:r>
              <a:t>• The solution should identify where performance deviates from plan and whether the variance is revenue- or expense-driven.</a:t>
            </a:r>
          </a:p>
          <a:p>
            <a:pPr>
              <a:spcAft>
                <a:spcPts val="800"/>
              </a:spcAft>
              <a:defRPr sz="1800">
                <a:solidFill>
                  <a:srgbClr val="1E242B"/>
                </a:solidFill>
              </a:defRPr>
            </a:pPr>
            <a:r>
              <a:t>• The dashboard converts transaction-level data into monthly KPIs, variance analysis and actionable management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25880"/>
            <a:ext cx="3749039" cy="3749039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Compare actual and budget performance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Identify significant monthly variances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Analyze department-level activity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Explain financial drivers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Recommend management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Track 01 • Case 6 • Budget vs Actual Analysis                                    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Data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205 transaction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874519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69164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45D"/>
                </a:solidFill>
              </a:defRPr>
            </a:pPr>
            <a:r>
              <a:t>Raw transaction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828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673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417320"/>
            <a:ext cx="1874519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08376" y="169164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45D"/>
                </a:solidFill>
              </a:defRPr>
            </a:pPr>
            <a:r>
              <a:t>Monthly consolidation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828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673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9784" y="1417320"/>
            <a:ext cx="1874519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169164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45D"/>
                </a:solidFill>
              </a:defRPr>
            </a:pPr>
            <a:r>
              <a:t>Budget vs 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0024" y="1828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673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7496" y="1417320"/>
            <a:ext cx="1874519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169164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45D"/>
                </a:solidFill>
              </a:defRPr>
            </a:pPr>
            <a:r>
              <a:t>Variance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1828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6673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1417320"/>
            <a:ext cx="1874519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11512" y="169164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45D"/>
                </a:solidFill>
              </a:defRPr>
            </a:pPr>
            <a:r>
              <a:t>Management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832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42B"/>
                </a:solidFill>
              </a:defRPr>
            </a:pPr>
            <a:r>
              <a:t>• Source: 205 transaction-level records in Raw_Data plus a separate FY25–26 monthly Budget tab.</a:t>
            </a:r>
          </a:p>
          <a:p>
            <a:pPr>
              <a:spcAft>
                <a:spcPts val="800"/>
              </a:spcAft>
              <a:defRPr sz="1700">
                <a:solidFill>
                  <a:srgbClr val="1E242B"/>
                </a:solidFill>
              </a:defRPr>
            </a:pPr>
            <a:r>
              <a:t>• Profit = Revenue − Expense.</a:t>
            </a:r>
          </a:p>
          <a:p>
            <a:pPr>
              <a:spcAft>
                <a:spcPts val="800"/>
              </a:spcAft>
              <a:defRPr sz="1700">
                <a:solidFill>
                  <a:srgbClr val="1E242B"/>
                </a:solidFill>
              </a:defRPr>
            </a:pPr>
            <a:r>
              <a:t>• Variance = Actual − Budget; Variance % = Variance ÷ Budget.</a:t>
            </a:r>
          </a:p>
          <a:p>
            <a:pPr>
              <a:spcAft>
                <a:spcPts val="800"/>
              </a:spcAft>
              <a:defRPr sz="1700">
                <a:solidFill>
                  <a:srgbClr val="1E242B"/>
                </a:solidFill>
              </a:defRPr>
            </a:pPr>
            <a:r>
              <a:t>• Department figures are a transaction activity/spend view, not department profit.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Track 01 • Case 6 • Budget vs Actual Analysis                                    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Full-Year Financial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₹ Lakh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5603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447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673"/>
                </a:solidFill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105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45D"/>
                </a:solidFill>
              </a:defRPr>
            </a:pPr>
            <a:r>
              <a:t>₹1,278.31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8458"/>
                </a:solidFill>
              </a:defRPr>
            </a:pPr>
            <a:r>
              <a:t>+0.26% vs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5603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14447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673"/>
                </a:solidFill>
              </a:defRPr>
            </a:pPr>
            <a:r>
              <a:t>Expense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105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45D"/>
                </a:solidFill>
              </a:defRPr>
            </a:pPr>
            <a:r>
              <a:t>₹614.49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2860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8458"/>
                </a:solidFill>
              </a:defRPr>
            </a:pPr>
            <a:r>
              <a:t>-0.10% vs budget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25603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4447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673"/>
                </a:solidFill>
              </a:defRPr>
            </a:pPr>
            <a:r>
              <a:t>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8105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45D"/>
                </a:solidFill>
              </a:defRPr>
            </a:pPr>
            <a:r>
              <a:t>₹663.82 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2860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8458"/>
                </a:solidFill>
              </a:defRPr>
            </a:pPr>
            <a:r>
              <a:t>+0.59% vs budget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234440"/>
            <a:ext cx="25603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62872" y="14447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673"/>
                </a:solidFill>
              </a:defRPr>
            </a:pPr>
            <a:r>
              <a:t>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18105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45D"/>
                </a:solidFill>
              </a:defRPr>
            </a:pPr>
            <a:r>
              <a:t>51.9%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2860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8458"/>
                </a:solidFill>
              </a:defRPr>
            </a:pPr>
            <a:r>
              <a:t>+0.2 pp vs 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5468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42B"/>
                </a:solidFill>
              </a:defRPr>
            </a:pPr>
            <a:r>
              <a:t>• Revenue finished ₹3.31 lakh above budget.</a:t>
            </a:r>
          </a:p>
          <a:p>
            <a:pPr>
              <a:spcAft>
                <a:spcPts val="800"/>
              </a:spcAft>
              <a:defRPr sz="1800">
                <a:solidFill>
                  <a:srgbClr val="1E242B"/>
                </a:solidFill>
              </a:defRPr>
            </a:pPr>
            <a:r>
              <a:t>• Expense finished ₹0.61 lakh below budget.</a:t>
            </a:r>
          </a:p>
          <a:p>
            <a:pPr>
              <a:spcAft>
                <a:spcPts val="800"/>
              </a:spcAft>
              <a:defRPr sz="1800">
                <a:solidFill>
                  <a:srgbClr val="1E242B"/>
                </a:solidFill>
              </a:defRPr>
            </a:pPr>
            <a:r>
              <a:t>• Profit finished ₹3.92 lakh above budget.</a:t>
            </a:r>
          </a:p>
          <a:p>
            <a:pPr>
              <a:spcAft>
                <a:spcPts val="800"/>
              </a:spcAft>
              <a:defRPr sz="1800">
                <a:solidFill>
                  <a:srgbClr val="1E242B"/>
                </a:solidFill>
              </a:defRPr>
            </a:pPr>
            <a:r>
              <a:t>• Overall performance was favourable, but the outperformance remained relatively thin.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Track 01 • Case 6 • Budget vs Actual Analysis                                    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43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Monthly Budget vs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Profit variance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02925"/>
            <a:ext cx="457200" cy="126274"/>
          </a:xfrm>
          <a:prstGeom prst="rect">
            <a:avLst/>
          </a:prstGeom>
          <a:solidFill>
            <a:srgbClr val="16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Apr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646893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68458"/>
                </a:solidFill>
              </a:defRPr>
            </a:pPr>
            <a:r>
              <a:t>+0.2%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3624" y="5029200"/>
            <a:ext cx="457200" cy="1413069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2184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May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6487989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BE3737"/>
                </a:solidFill>
              </a:defRPr>
            </a:pPr>
            <a:r>
              <a:t>-2.4%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5728" y="5029200"/>
            <a:ext cx="457200" cy="252548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04288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Jun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53274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BE3737"/>
                </a:solidFill>
              </a:defRPr>
            </a:pPr>
            <a:r>
              <a:t>-0.4%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5029200"/>
            <a:ext cx="457200" cy="168967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36392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Jul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676459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BE3737"/>
                </a:solidFill>
              </a:defRPr>
            </a:pPr>
            <a:r>
              <a:t>-2.8%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59936" y="5029200"/>
            <a:ext cx="457200" cy="1839996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68496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Aug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69149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BE3737"/>
                </a:solidFill>
              </a:defRPr>
            </a:pPr>
            <a:r>
              <a:t>-3.1%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946848"/>
            <a:ext cx="457200" cy="1082351"/>
          </a:xfrm>
          <a:prstGeom prst="rect">
            <a:avLst/>
          </a:prstGeom>
          <a:solidFill>
            <a:srgbClr val="16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Sep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690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68458"/>
                </a:solidFill>
              </a:defRPr>
            </a:pPr>
            <a:r>
              <a:t>+1.8%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24144" y="3219268"/>
            <a:ext cx="457200" cy="1809931"/>
          </a:xfrm>
          <a:prstGeom prst="rect">
            <a:avLst/>
          </a:prstGeom>
          <a:solidFill>
            <a:srgbClr val="16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32704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Oct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6983" y="296323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68458"/>
                </a:solidFill>
              </a:defRPr>
            </a:pPr>
            <a:r>
              <a:t>+3.0%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6248" y="3934822"/>
            <a:ext cx="457200" cy="1094377"/>
          </a:xfrm>
          <a:prstGeom prst="rect">
            <a:avLst/>
          </a:prstGeom>
          <a:solidFill>
            <a:srgbClr val="16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Nov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7879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68458"/>
                </a:solidFill>
              </a:defRPr>
            </a:pPr>
            <a:r>
              <a:t>+1.8%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2792341"/>
            <a:ext cx="457200" cy="2236858"/>
          </a:xfrm>
          <a:prstGeom prst="rect">
            <a:avLst/>
          </a:prstGeom>
          <a:solidFill>
            <a:srgbClr val="16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96912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Dec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2536309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68458"/>
                </a:solidFill>
              </a:defRPr>
            </a:pPr>
            <a:r>
              <a:t>+3.7%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6" y="5029200"/>
            <a:ext cx="457200" cy="919998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29016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Jan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3296" y="599491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BE3737"/>
                </a:solidFill>
              </a:defRPr>
            </a:pPr>
            <a:r>
              <a:t>-1.5%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4692468"/>
            <a:ext cx="457200" cy="336731"/>
          </a:xfrm>
          <a:prstGeom prst="rect">
            <a:avLst/>
          </a:prstGeom>
          <a:solidFill>
            <a:srgbClr val="16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0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Feb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43643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68458"/>
                </a:solidFill>
              </a:defRPr>
            </a:pPr>
            <a:r>
              <a:t>+0.6%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84664" y="2377440"/>
            <a:ext cx="457200" cy="2651760"/>
          </a:xfrm>
          <a:prstGeom prst="rect">
            <a:avLst/>
          </a:prstGeom>
          <a:solidFill>
            <a:srgbClr val="16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93224" y="5138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6673"/>
                </a:solidFill>
              </a:defRPr>
            </a:pPr>
            <a:r>
              <a:t>Mar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7504" y="212140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68458"/>
                </a:solidFill>
              </a:defRPr>
            </a:pPr>
            <a:r>
              <a:t>+4.4%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029200"/>
            <a:ext cx="10241280" cy="13716"/>
          </a:xfrm>
          <a:prstGeom prst="rect">
            <a:avLst/>
          </a:prstGeom>
          <a:solidFill>
            <a:srgbClr val="5C6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5440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42B"/>
                </a:solidFill>
              </a:defRPr>
            </a:pPr>
            <a:r>
              <a:rPr dirty="0"/>
              <a:t>• Profit beat budget in 8 of 12 months.</a:t>
            </a:r>
          </a:p>
          <a:p>
            <a:pPr>
              <a:spcAft>
                <a:spcPts val="800"/>
              </a:spcAft>
              <a:defRPr sz="1300">
                <a:solidFill>
                  <a:srgbClr val="1E242B"/>
                </a:solidFill>
              </a:defRPr>
            </a:pPr>
            <a:r>
              <a:rPr dirty="0"/>
              <a:t>• July and August were the weakest months, mainly due to revenue shortfalls.</a:t>
            </a:r>
          </a:p>
          <a:p>
            <a:pPr>
              <a:spcAft>
                <a:spcPts val="800"/>
              </a:spcAft>
              <a:defRPr sz="1300">
                <a:solidFill>
                  <a:srgbClr val="1E242B"/>
                </a:solidFill>
              </a:defRPr>
            </a:pPr>
            <a:r>
              <a:rPr dirty="0"/>
              <a:t>• December and March were the strongest months.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Track 01 • Case 6 • Budget vs Actual Analysis                                    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Department-wise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Transaction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42B"/>
                </a:solidFill>
              </a:defRPr>
            </a:pPr>
            <a:r>
              <a:t>Sales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362456"/>
            <a:ext cx="694944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65960" y="1362456"/>
            <a:ext cx="694944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0" y="131673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345D"/>
                </a:solidFill>
              </a:defRPr>
            </a:pPr>
            <a:r>
              <a:t>₹1,457.17 L  |  77.0%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42B"/>
                </a:solidFill>
              </a:defRPr>
            </a:pPr>
            <a:r>
              <a:t>Marketing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2093976"/>
            <a:ext cx="694944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65960" y="2093976"/>
            <a:ext cx="870843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204825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345D"/>
                </a:solidFill>
              </a:defRPr>
            </a:pPr>
            <a:r>
              <a:t>₹182.60 L  |  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42B"/>
                </a:solidFill>
              </a:defRPr>
            </a:pPr>
            <a:r>
              <a:t>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825496"/>
            <a:ext cx="694944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65960" y="2825496"/>
            <a:ext cx="760343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277977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345D"/>
                </a:solidFill>
              </a:defRPr>
            </a:pPr>
            <a:r>
              <a:t>₹159.43 L  |  8.4%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2044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42B"/>
                </a:solidFill>
              </a:defRPr>
            </a:pPr>
            <a:r>
              <a:t>HR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3557016"/>
            <a:ext cx="694944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65960" y="3557016"/>
            <a:ext cx="268979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351129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345D"/>
                </a:solidFill>
              </a:defRPr>
            </a:pPr>
            <a:r>
              <a:t>₹56.40 L  |  3.0%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519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42B"/>
                </a:solidFill>
              </a:defRPr>
            </a:pPr>
            <a:r>
              <a:t>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4288536"/>
            <a:ext cx="694944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65960" y="4288536"/>
            <a:ext cx="177411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424281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345D"/>
                </a:solidFill>
              </a:defRPr>
            </a:pPr>
            <a:r>
              <a:t>₹37.20 L  |  2.0%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42B"/>
                </a:solidFill>
              </a:defRPr>
            </a:pPr>
            <a:r>
              <a:t>• Sales represents the majority of transaction activity (~77%).</a:t>
            </a:r>
          </a:p>
          <a:p>
            <a:pPr>
              <a:spcAft>
                <a:spcPts val="800"/>
              </a:spcAft>
              <a:defRPr sz="1400">
                <a:solidFill>
                  <a:srgbClr val="1E242B"/>
                </a:solidFill>
              </a:defRPr>
            </a:pPr>
            <a:r>
              <a:t>• Marketing and Operations are the next most actionable areas for expense management.</a:t>
            </a:r>
          </a:p>
          <a:p>
            <a:pPr>
              <a:spcAft>
                <a:spcPts val="800"/>
              </a:spcAft>
              <a:defRPr sz="1400">
                <a:solidFill>
                  <a:srgbClr val="1E242B"/>
                </a:solidFill>
              </a:defRPr>
            </a:pPr>
            <a:r>
              <a:t>• HR and IT together represent less than 5% of total activity.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Track 01 • Case 6 • Budget vs Actual Analysis                                    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Management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03520" cy="4663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KEY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4663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8132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8458"/>
                </a:solidFill>
              </a:defRPr>
            </a:pPr>
            <a: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Revenue beat budget by 0.26%; profit beat by 0.59%.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Profit beat budget in 8 of 12 months.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July-August weakness was mainly revenue-driven.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Expense discipline remained strong throughout the year.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Re-base July-August budgets using actual seasonal performance.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Investigate September-December uplift for repeatable seasonal effects.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Prioritise deeper variance review within Sales.</a:t>
            </a:r>
          </a:p>
          <a:p>
            <a:pPr>
              <a:spcAft>
                <a:spcPts val="800"/>
              </a:spcAft>
              <a:defRPr sz="1500">
                <a:solidFill>
                  <a:srgbClr val="1E242B"/>
                </a:solidFill>
              </a:defRPr>
            </a:pPr>
            <a:r>
              <a:t>• Maintain current expense discipline as a benchmark.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Track 01 • Case 6 • Budget vs Actual Analysis                                    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8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Project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55448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563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45D"/>
                </a:solidFill>
              </a:defRPr>
            </a:pPr>
            <a:r>
              <a:rPr dirty="0"/>
              <a:t>The FMCG business closed FY25–26 marginally ahead of budget. Seasonal revenue variation was the main performance signal, while expense control remained disciplined.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333756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493008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WORKING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913632"/>
            <a:ext cx="2880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42B"/>
                </a:solidFill>
              </a:defRPr>
            </a:pPr>
            <a:r>
              <a:t>FMCG_Budget_vs_Actual_Dashboard.xlsx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246120"/>
            <a:ext cx="333756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7" y="3493008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DETAILED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3913632"/>
            <a:ext cx="2880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42B"/>
                </a:solidFill>
              </a:defRPr>
            </a:pPr>
            <a:r>
              <a:t>FMCG_Budget_vs_Actual_Report.pdf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246120"/>
            <a:ext cx="333756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3493008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3913632"/>
            <a:ext cx="2880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42B"/>
                </a:solidFill>
              </a:defRPr>
            </a:pPr>
            <a:r>
              <a:t>amityadav</a:t>
            </a:r>
            <a:r>
              <a:rPr dirty="0"/>
              <a:t>-finance/</a:t>
            </a:r>
            <a:r>
              <a:rPr dirty="0" err="1"/>
              <a:t>fpna</a:t>
            </a:r>
            <a:r>
              <a:rPr dirty="0"/>
              <a:t>-excel-dashboard-</a:t>
            </a:r>
            <a:r>
              <a:rPr dirty="0" err="1"/>
              <a:t>fmcg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8345D"/>
                </a:solidFill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Track 01 • Case 6 • Budget vs Actual Analysis                                    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693</Words>
  <Application>Microsoft Macintosh PowerPoint</Application>
  <PresentationFormat>Widescreen</PresentationFormat>
  <Paragraphs>128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 Yadav</cp:lastModifiedBy>
  <cp:revision>3</cp:revision>
  <dcterms:created xsi:type="dcterms:W3CDTF">2013-01-27T09:14:16Z</dcterms:created>
  <dcterms:modified xsi:type="dcterms:W3CDTF">2026-09-12T16:39:10Z</dcterms:modified>
  <cp:category/>
</cp:coreProperties>
</file>